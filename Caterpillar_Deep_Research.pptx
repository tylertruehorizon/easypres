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Segment profit ($B)</c:v>
                </c:pt>
              </c:strCache>
            </c:strRef>
          </c:tx>
          <c:spPr>
            <a:solidFill>
              <a:srgbClr val="26BAF1"/>
            </a:solidFill>
          </c:spPr>
          <c:cat>
            <c:strRef>
              <c:f>Sheet1!$A$2:$A$6</c:f>
              <c:strCache>
                <c:ptCount val="5"/>
                <c:pt idx="0">
                  <c:v>Construction (CI)</c:v>
                </c:pt>
                <c:pt idx="1">
                  <c:v>Energy &amp; Transp. (E&amp;T)</c:v>
                </c:pt>
                <c:pt idx="2">
                  <c:v>Resource (RI)</c:v>
                </c:pt>
                <c:pt idx="3">
                  <c:v>Financial Prod. (FP)</c:v>
                </c:pt>
                <c:pt idx="4">
                  <c:v>All 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6.165</c:v>
                </c:pt>
                <c:pt idx="1">
                  <c:v>5.736</c:v>
                </c:pt>
                <c:pt idx="2">
                  <c:v>2.533</c:v>
                </c:pt>
                <c:pt idx="3">
                  <c:v>0.932</c:v>
                </c:pt>
                <c:pt idx="4">
                  <c:v>0.048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Albert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Albert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2F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Albert Sans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lbert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/ revenues ($B)</c:v>
                </c:pt>
              </c:strCache>
            </c:strRef>
          </c:tx>
          <c:spPr>
            <a:solidFill>
              <a:srgbClr val="26BAF1"/>
            </a:solidFill>
          </c:spPr>
          <c:cat>
            <c:strRef>
              <c:f>Sheet1!$A$2:$A$6</c:f>
              <c:strCache>
                <c:ptCount val="5"/>
                <c:pt idx="0">
                  <c:v>Energy &amp; Transp. (E&amp;T)</c:v>
                </c:pt>
                <c:pt idx="1">
                  <c:v>Construction (CI)</c:v>
                </c:pt>
                <c:pt idx="2">
                  <c:v>Resource (RI)</c:v>
                </c:pt>
                <c:pt idx="3">
                  <c:v>Financial Prod. (FP)</c:v>
                </c:pt>
                <c:pt idx="4">
                  <c:v>All 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28.854</c:v>
                </c:pt>
                <c:pt idx="1">
                  <c:v>25.455</c:v>
                </c:pt>
                <c:pt idx="2">
                  <c:v>12.389</c:v>
                </c:pt>
                <c:pt idx="3">
                  <c:v>4.053</c:v>
                </c:pt>
                <c:pt idx="4">
                  <c:v>0.425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Albert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Albert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2F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Albert Sans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lbert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71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Albert Sans"/>
              </a:defRPr>
            </a:pPr>
            <a:r>
              <a:t>Caterpillar (CAT) Deep Rese...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77640"/>
            <a:ext cx="7315200" cy="9144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2BEF2"/>
                </a:solidFill>
                <a:latin typeface="Albert Sans"/>
              </a:defRPr>
            </a:pPr>
            <a:r>
              <a:t>Last 12 months ending 2026-03-03 | Triangulated: FY2024 10-K + external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  <a:latin typeface="Albert Sans"/>
              </a:defRPr>
            </a:pPr>
            <a:r>
              <a:t>2026-03-03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FY2024 Financial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lbert Sans"/>
              </a:defRPr>
            </a:pPr>
            <a:r>
              <a:t>Baseline from FY2024 Form 10-K (filed Feb 14, 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Sales &amp; revenues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$64.809B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Operating profit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$13.072B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Operating margin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20.2%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Operating cash flow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$12.035B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ME&amp;T free cash flow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$9.449B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Cash (12/31/24)</a:t>
            </a:r>
          </a:p>
          <a:p>
            <a:pPr algn="ctr">
              <a:defRPr sz="3400" b="1">
                <a:solidFill>
                  <a:srgbClr val="003366"/>
                </a:solidFill>
                <a:latin typeface="Albert Sans"/>
              </a:defRPr>
            </a:pPr>
            <a:r>
              <a:t>$6.89B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lbert Sans"/>
              </a:defRPr>
            </a:pPr>
            <a:r>
              <a:t>FY2024 Segment Profit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Albert Sans"/>
              </a:defRPr>
            </a:pPr>
            <a:r>
              <a:t>Profit pool is concentrated in CI + E&amp;T; RI adds cycle torque; FP adds credit-cycle sensitivity. Source: CAT FY2024 10-K.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554480"/>
          <a:ext cx="7772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lbert Sans"/>
              </a:defRPr>
            </a:pPr>
            <a:r>
              <a:t>FY2024 Segment Sales / Revenues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Albert Sans"/>
              </a:defRPr>
            </a:pPr>
            <a:r>
              <a:t>E&amp;T is largest revenue segment and structurally higher-backlog/service mix. Source: CAT FY2024 10-K Segment Information.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554480"/>
          <a:ext cx="7772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003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Business Model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6042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Albert Sans"/>
              </a:defRPr>
            </a:pPr>
            <a:r>
              <a:t>A ‘system moat’: dealer-led distribution + installed base + tech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03454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342900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482346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64008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Dealer network + uptime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Global coverage and parts availability reduce downtime risk and raise aftermarket attachment (FY2024 10-K).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3454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Installed base economics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Rebuilds/parts and preventive maintenance underpin services through cycles (FY2024 10-K MD&amp;A).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42900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Scale + manufacturing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Platform scale supports sourcing and global product offerings, but increases disruption/input-cost exposure (10-K Item 1A).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82346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Digital lock-in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MineStar/Cat Command + autonomy + data workflows create switching costs (International Mining 2025; CAT PR 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003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Cycle Context: Late-Cycle Digestion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6042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Albert Sans"/>
              </a:defRPr>
            </a:pPr>
            <a:r>
              <a:t>Key question: channel normalization + softer equipment vs services + E&amp;T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03454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342900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482346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64008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Dealer inventory normalization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Total dealer inventory +$0.4B in 2024 vs +$2.1B in 2023; machine dealer inventory -$0.7B in 2024 (FY2024 10-K MD&amp;A).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3454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Backlog as a buffer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Backlog ~$30.0B at YE2024 (from $27.5B), with E&amp;T increases offsetting CI/RI declines; ~$8.0B not expected to fill in 2025 (FY2024 10-K).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42900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Pricing taper risk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External reporting flagged pricing gains tapering and lower North America dealer stocking (Reuters via Yahoo Finance, Oct 2024).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82346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2025 management framing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Sales/revenues ‘slightly lower’; CI &amp; RI down, E&amp;T up; no significant change in machine dealer inventories; services growth across segments (FY2024 10-K MD&amp;A).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Backlog &amp; Channel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lbert Sans"/>
              </a:defRPr>
            </a:pPr>
            <a:r>
              <a:t>Visibility vs volatility (FY2024 10-K)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Order backlog (YE2024)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~$30.0B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Order backlog (YE2023)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$27.5B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Backlog not expected to fill in 2025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~$8.0B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Total dealer inventory change (2024)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+~$0.4B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Total dealer inventory change (2023)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+~$2.1B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Machine dealer inventory change (2024)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-~$0.7B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Cash Flow &amp; Capital Returns (2024)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lbert Sans"/>
              </a:defRPr>
            </a:pPr>
            <a:r>
              <a:t>Strong cash generation funded outsized shareholder returns (FY2024 10-K)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ME&amp;T operating cash flow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$11.437B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ME&amp;T capex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$1.988B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656332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ME&amp;T free cash flow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$9.449B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Dividends paid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~$2.65B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Share repurchases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~$7.7B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320540"/>
            <a:ext cx="2468880" cy="1481328"/>
          </a:xfrm>
          <a:prstGeom prst="roundRect">
            <a:avLst/>
          </a:prstGeom>
          <a:solidFill>
            <a:srgbClr val="D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Remaining buyback authorization</a:t>
            </a:r>
          </a:p>
          <a:p>
            <a:pPr algn="ctr">
              <a:defRPr sz="3300" b="1">
                <a:solidFill>
                  <a:srgbClr val="003366"/>
                </a:solidFill>
                <a:latin typeface="Albert Sans"/>
              </a:defRPr>
            </a:pPr>
            <a:r>
              <a:t>~$20.1B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Albert Sans"/>
              </a:defRPr>
            </a:pPr>
            <a:r>
              <a:t>Debt Maturities &amp;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365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Albert Sans"/>
              </a:defRPr>
            </a:pPr>
            <a:r>
              <a:t>Refinancing sensitivity concentrated in 2025–2027 (FY2024 10-K)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07210"/>
          <a:ext cx="7772400" cy="4157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6200"/>
                <a:gridCol w="3886200"/>
              </a:tblGrid>
              <a:tr h="431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Cash &amp; cash equivalents (12/31/24)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$6.89B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Total debt (12/31/24)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$38.41B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Global credit facilities (total)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$10.50B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Facilities available (YE2024)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~$9.929B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Debt maturities 2025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$6.665B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Debt maturities 2026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$8.529B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Debt maturities 2027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$7.758B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Debt maturities 2028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$0.214B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Debt maturities 2029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$2.596B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Strategy &amp; Growth Initiatives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240792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800"/>
              </a:spcAft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Near-term (12–24 months)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Defend margins as pricing normalizes; tighten cost/working capital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Expand services penetration across CI/RI/E&amp;T (2025 outlook)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Monetize E&amp;T backlog; manage mix toward long-cycle/service revenue</a:t>
            </a:r>
          </a:p>
        </p:txBody>
      </p:sp>
      <p:sp>
        <p:nvSpPr>
          <p:cNvPr id="5" name="Oval 4"/>
          <p:cNvSpPr/>
          <p:nvPr/>
        </p:nvSpPr>
        <p:spPr>
          <a:xfrm>
            <a:off x="3459480" y="1600200"/>
            <a:ext cx="594360" cy="59436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8040" y="2377440"/>
            <a:ext cx="2407920" cy="3840480"/>
          </a:xfrm>
          <a:prstGeom prst="roundRect">
            <a:avLst>
              <a:gd name="adj" fmla="val 2000"/>
            </a:avLst>
          </a:prstGeom>
          <a:solidFill>
            <a:srgbClr val="D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800"/>
              </a:spcAft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Medium-term (2–5 years)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Mining digital/software: RPMGlobal acquisition → planning/analytics adjacency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Decarbonization: staged BEV haulage commercialization (793 XE ‘Early Learner’)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Construction autonomy + AI workflows broaden autonomy TAM (CES 2026)</a:t>
            </a:r>
          </a:p>
        </p:txBody>
      </p:sp>
      <p:sp>
        <p:nvSpPr>
          <p:cNvPr id="7" name="Oval 6"/>
          <p:cNvSpPr/>
          <p:nvPr/>
        </p:nvSpPr>
        <p:spPr>
          <a:xfrm>
            <a:off x="6141720" y="1600200"/>
            <a:ext cx="594360" cy="59436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80" y="2377440"/>
            <a:ext cx="240792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800"/>
              </a:spcAft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Execution enablers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Dealer network to scale service attachment and uptime outcomes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Tech ecosystem (MineStar/Cat Command) to increase switching costs</a:t>
            </a:r>
          </a:p>
          <a:p>
            <a:pPr algn="l" marL="137160" indent="-137160">
              <a:spcBef>
                <a:spcPts val="600"/>
              </a:spcBef>
              <a:defRPr sz="1200">
                <a:solidFill>
                  <a:srgbClr val="333333"/>
                </a:solidFill>
                <a:latin typeface="Albert Sans"/>
              </a:defRPr>
            </a:pPr>
            <a:r>
              <a:t>•  Capital return flexibility via buyback modulation if cycle turns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Technology &amp; Product Catalysts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240792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800"/>
              </a:spcAft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Autonomy commercialization</a:t>
            </a:r>
          </a:p>
          <a:p>
            <a:pPr algn="l" marL="171450" indent="-171450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•  Cat 789D Autonomous Water Truck integrated with Cat Command/MineStar (IM 2025)</a:t>
            </a:r>
          </a:p>
          <a:p>
            <a:pPr algn="l" marL="171450" indent="-171450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•  Luck Stone milestone: 1M tons hauled autonomously in aggregates (IM 2025)</a:t>
            </a:r>
          </a:p>
        </p:txBody>
      </p:sp>
      <p:sp>
        <p:nvSpPr>
          <p:cNvPr id="5" name="Oval 4"/>
          <p:cNvSpPr/>
          <p:nvPr/>
        </p:nvSpPr>
        <p:spPr>
          <a:xfrm>
            <a:off x="3459480" y="1600200"/>
            <a:ext cx="594360" cy="59436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8040" y="2377440"/>
            <a:ext cx="2407920" cy="3840480"/>
          </a:xfrm>
          <a:prstGeom prst="roundRect">
            <a:avLst>
              <a:gd name="adj" fmla="val 2000"/>
            </a:avLst>
          </a:prstGeom>
          <a:solidFill>
            <a:srgbClr val="D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800"/>
              </a:spcAft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AI + partner ecosystem</a:t>
            </a:r>
          </a:p>
          <a:p>
            <a:pPr algn="l" marL="171450" indent="-171450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•  CES 2026: Cat AI Assistant preview; autonomous machines aimed at construction environments</a:t>
            </a:r>
          </a:p>
          <a:p>
            <a:pPr algn="l" marL="171450" indent="-171450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•  Expanded NVIDIA collaboration; $25M/5-year workforce initiative (CAT PR 2026)</a:t>
            </a:r>
          </a:p>
        </p:txBody>
      </p:sp>
      <p:sp>
        <p:nvSpPr>
          <p:cNvPr id="7" name="Oval 6"/>
          <p:cNvSpPr/>
          <p:nvPr/>
        </p:nvSpPr>
        <p:spPr>
          <a:xfrm>
            <a:off x="6141720" y="1600200"/>
            <a:ext cx="594360" cy="59436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80" y="2377440"/>
            <a:ext cx="240792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800"/>
              </a:spcAft>
              <a:defRPr sz="2200" b="1">
                <a:solidFill>
                  <a:srgbClr val="333333"/>
                </a:solidFill>
                <a:latin typeface="Albert Sans"/>
              </a:defRPr>
            </a:pPr>
            <a:r>
              <a:t>Electrification in mining</a:t>
            </a:r>
          </a:p>
          <a:p>
            <a:pPr algn="l" marL="171450" indent="-171450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•  793 XE BEV haul truck trials with BHP + Rio Tinto + WesTrac (BW/Yahoo 2025)</a:t>
            </a:r>
          </a:p>
          <a:p>
            <a:pPr algn="l" marL="171450" indent="-171450">
              <a:spcBef>
                <a:spcPts val="600"/>
              </a:spcBef>
              <a:defRPr sz="1500">
                <a:solidFill>
                  <a:srgbClr val="333333"/>
                </a:solidFill>
                <a:latin typeface="Albert Sans"/>
              </a:defRPr>
            </a:pPr>
            <a:r>
              <a:t>•  Key watch: reliability, charging ecosystem, and service model economics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003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Investment Thesis &amp; Key Debates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6042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Albert Sans"/>
              </a:defRPr>
            </a:pPr>
            <a:r>
              <a:t>Resilience case: services + E&amp;T visibility vs channel/pricing/credit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03454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342900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482346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64008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Thesis pillars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(1) Installed base + services growth dampen cyclicality; (2) E&amp;T backlog provides visibility; (3) autonomy/software expand lifecycle capture; (4) strong FCF supports flexible returns (FY2024 10-K; external tech sources).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3454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Debate #1: Dealer inventory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Management expects no significant change in 2025, but history shows channel moves can dominate reported sales and margin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42900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Debate #2: Pricing normalization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If price realization fades faster than productivity gains, margins can compress from FY2024 ‘peak-like’ levels (Reuters via Yahoo, 2024).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823460"/>
            <a:ext cx="3383280" cy="1394460"/>
          </a:xfrm>
          <a:prstGeom prst="rect">
            <a:avLst/>
          </a:prstGeom>
          <a:noFill/>
        </p:spPr>
        <p:txBody>
          <a:bodyPr wrap="square" anchor="ctr" tIns="73152" bIns="73152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Debate #3: Financial Products cycle</a:t>
            </a:r>
          </a:p>
          <a:p>
            <a:pPr algn="l">
              <a:spcBef>
                <a:spcPts val="400"/>
              </a:spcBef>
              <a:defRPr sz="1100">
                <a:solidFill>
                  <a:srgbClr val="8E8E8E"/>
                </a:solidFill>
                <a:latin typeface="Albert Sans"/>
              </a:defRPr>
            </a:pPr>
            <a:r>
              <a:t>Higher rates/spreads and used-equipment values affect demand, funding costs, and credit losses; maturity wall adds near-term sensitivity (FY2024 10-K).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Albert Sans"/>
              </a:defRPr>
            </a:pPr>
            <a:r>
              <a:t>Risk Dashboard (Validated Externally)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365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Albert Sans"/>
              </a:defRPr>
            </a:pPr>
            <a:r>
              <a:t>Condensed from Item 1A + independent evidence; focus on what ‘breaks first’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09700"/>
          <a:ext cx="7772400" cy="4952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Risk theme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Primary leading indicators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Macro / end-market cyclicality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Near–Medium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PMIs, construction starts, mining capex, credit spreads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Dealer inventory / channel correction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Near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Dealer inv $ change, retail vs wholesale, rental loading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Interest rates &amp; credit (Cat Financial)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Near–Medium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Delinquencies/charge-offs, funding spreads, ABS markets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Pricing &amp; competition (incl. used/rental)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Med–High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Near–Medium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Realization vs costs, discounts, used equipment indices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6735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Supply chain &amp; logistics disruption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Partially 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Near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Freight rates/lead times, OTIF, expedite costs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Trade policy / tariffs / remedies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New tariff actions, EU/US trade cases, adverse rulings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6735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Environmental / climate regulation (e.g., CBAM)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Med–Long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Carbon costs, emissions rules, customer specs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46735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Cybersecurity / IT threats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Partially validated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Near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Ransomware rates, OT posture, vendor incidents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