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1959B3"/>
              </a:solidFill>
            </c:spPr>
          </c:dPt>
          <c:dPt>
            <c:idx val="1"/>
            <c:spPr>
              <a:solidFill>
                <a:srgbClr val="6590CC"/>
              </a:solidFill>
            </c:spPr>
          </c:dPt>
          <c:dPt>
            <c:idx val="2"/>
            <c:spPr>
              <a:solidFill>
                <a:srgbClr val="B2C7E5"/>
              </a:solidFill>
            </c:spPr>
          </c:dPt>
          <c:cat>
            <c:strRef>
              <c:f>Sheet1!$A$2:$A$4</c:f>
              <c:strCache>
                <c:ptCount val="3"/>
                <c:pt idx="0">
                  <c:v>Utility T&amp;D</c:v>
                </c:pt>
                <c:pt idx="1">
                  <c:v>Infrastructure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27</c:v>
                </c:pt>
                <c:pt idx="2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800">
              <a:latin typeface="Arial"/>
            </a:defRPr>
          </a:pPr>
        </a:p>
      </c:txPr>
      <c:layout>
        <c:manLayout>
          <c:xMode val="factor"/>
          <c:yMode val="factor"/>
          <c:x val="0.76"/>
          <c:y val="0.3"/>
          <c:w val="0.24"/>
          <c:h val="0.4"/>
        </c:manLayout>
      </c:layout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source/1" TargetMode="External"/><Relationship Id="rId3" Type="http://schemas.openxmlformats.org/officeDocument/2006/relationships/hyperlink" Target="https://example.com/source/2" TargetMode="External"/><Relationship Id="rId4" Type="http://schemas.openxmlformats.org/officeDocument/2006/relationships/hyperlink" Target="https://example.com/source/3" TargetMode="External"/><Relationship Id="rId5" Type="http://schemas.openxmlformats.org/officeDocument/2006/relationships/hyperlink" Target="https://example.com/source/4" TargetMode="External"/><Relationship Id="rId6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909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0000"/>
                </a:solidFill>
                <a:latin typeface="Arial"/>
              </a:defRPr>
            </a:pPr>
            <a:r>
              <a:t>Integrated Model Positioning for Secular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39547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Differentiated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35024"/>
            <a:ext cx="3954780" cy="502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00">
                <a:solidFill>
                  <a:srgbClr val="000000"/>
                </a:solidFill>
                <a:latin typeface="Arial"/>
              </a:rPr>
              <a:t>Vertically Integrated Platform: </a:t>
            </a:r>
            <a:r>
              <a:rPr sz="1000">
                <a:solidFill>
                  <a:srgbClr val="000000"/>
                </a:solidFill>
                <a:latin typeface="Arial"/>
              </a:rPr>
              <a:t>End-to-end capability across the value chain.</a:t>
            </a:r>
            <a:r>
              <a:rPr sz="1000">
                <a:solidFill>
                  <a:srgbClr val="000000"/>
                </a:solidFill>
                <a:latin typeface="Arial"/>
              </a:rPr>
              <a:t> </a:t>
            </a:r>
            <a:r>
              <a:rPr sz="1000">
                <a:solidFill>
                  <a:srgbClr val="0066CC"/>
                </a:solidFill>
                <a:latin typeface="Arial"/>
                <a:hlinkClick r:id="rId2"/>
              </a:rPr>
              <a:t>[1]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0000"/>
                </a:solidFill>
                <a:latin typeface="Arial"/>
              </a:rPr>
              <a:t>High Customer Stickiness: </a:t>
            </a:r>
            <a:r>
              <a:rPr sz="1000">
                <a:solidFill>
                  <a:srgbClr val="000000"/>
                </a:solidFill>
                <a:latin typeface="Arial"/>
              </a:rPr>
              <a:t>Recurring relationships and renewal depth.</a:t>
            </a:r>
            <a:r>
              <a:rPr sz="1000">
                <a:solidFill>
                  <a:srgbClr val="000000"/>
                </a:solidFill>
                <a:latin typeface="Arial"/>
              </a:rPr>
              <a:t> </a:t>
            </a:r>
            <a:r>
              <a:rPr sz="1000">
                <a:solidFill>
                  <a:srgbClr val="0066CC"/>
                </a:solidFill>
                <a:latin typeface="Arial"/>
                <a:hlinkClick r:id="rId3"/>
              </a:rPr>
              <a:t>[2]</a:t>
            </a:r>
            <a:r>
              <a:rPr sz="1000">
                <a:solidFill>
                  <a:srgbClr val="000000"/>
                </a:solidFill>
                <a:latin typeface="Arial"/>
              </a:rPr>
              <a:t> </a:t>
            </a:r>
            <a:r>
              <a:rPr sz="1000">
                <a:solidFill>
                  <a:srgbClr val="0066CC"/>
                </a:solidFill>
                <a:latin typeface="Arial"/>
                <a:hlinkClick r:id="rId4"/>
              </a:rPr>
              <a:t>[3]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2020" y="1024128"/>
            <a:ext cx="39547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Strategic Ownership &amp;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2020" y="1335024"/>
            <a:ext cx="3954780" cy="177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00">
                <a:solidFill>
                  <a:srgbClr val="000000"/>
                </a:solidFill>
                <a:latin typeface="Arial"/>
              </a:rPr>
              <a:t>Controlled Company Status: </a:t>
            </a:r>
            <a:r>
              <a:rPr sz="1000">
                <a:solidFill>
                  <a:srgbClr val="000000"/>
                </a:solidFill>
                <a:latin typeface="Arial"/>
              </a:rPr>
              <a:t>Aligned governance and long-term horizon.</a:t>
            </a:r>
            <a:r>
              <a:rPr sz="1000">
                <a:solidFill>
                  <a:srgbClr val="000000"/>
                </a:solidFill>
                <a:latin typeface="Arial"/>
              </a:rPr>
              <a:t> </a:t>
            </a:r>
            <a:r>
              <a:rPr sz="1000">
                <a:solidFill>
                  <a:srgbClr val="0066CC"/>
                </a:solidFill>
                <a:latin typeface="Arial"/>
                <a:hlinkClick r:id="rId5"/>
              </a:rPr>
              <a:t>[4]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Supporting narrative as a plain string bullet.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2020" y="2973628"/>
            <a:ext cx="39547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00000"/>
                </a:solidFill>
                <a:latin typeface="Arial"/>
              </a:defRPr>
            </a:pPr>
            <a:r>
              <a:t>Revenue Mix by End-Market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32020" y="3229660"/>
          <a:ext cx="3954780" cy="29882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6400800"/>
            <a:ext cx="813816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700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787878"/>
                </a:solidFill>
                <a:latin typeface="Arial"/>
              </a:defRPr>
            </a:pPr>
            <a:r>
              <a:t>Sources: 10-K • 10 Mar 26 [1,2,3]; DEF 14A • 28 Apr 25 [4]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