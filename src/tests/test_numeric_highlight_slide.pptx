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7315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03366"/>
                </a:solidFill>
                <a:latin typeface="Albert Sans"/>
              </a:defRPr>
            </a:pPr>
            <a:r>
              <a:t>Financial Highlights – FY2025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333333"/>
                </a:solidFill>
                <a:latin typeface="Albert Sans"/>
              </a:defRPr>
            </a:pPr>
            <a:r>
              <a:t>Overview of FY2025 financial performance including strong operational cash flow, significant capital returns to shareholders via buybacks and dividends, and continued investment in R&amp;D.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766060"/>
            <a:ext cx="1805940" cy="1371600"/>
          </a:xfrm>
          <a:prstGeom prst="roundRect">
            <a:avLst/>
          </a:prstGeom>
          <a:solidFill>
            <a:srgbClr val="D8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00"/>
              </a:spcBef>
              <a:defRPr sz="1100">
                <a:solidFill>
                  <a:srgbClr val="333333"/>
                </a:solidFill>
                <a:latin typeface="Albert Sans"/>
              </a:defRPr>
            </a:pPr>
            <a:r>
              <a:t>Cash &amp; Securities</a:t>
            </a:r>
          </a:p>
          <a:p>
            <a:pPr algn="ctr">
              <a:defRPr sz="2400" b="1">
                <a:solidFill>
                  <a:srgbClr val="003366"/>
                </a:solidFill>
                <a:latin typeface="Albert Sans"/>
              </a:defRPr>
            </a:pPr>
            <a:r>
              <a:t>$132.4 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74620" y="2766060"/>
            <a:ext cx="1805940" cy="1371600"/>
          </a:xfrm>
          <a:prstGeom prst="roundRect">
            <a:avLst/>
          </a:prstGeom>
          <a:solidFill>
            <a:srgbClr val="D8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00"/>
              </a:spcBef>
              <a:defRPr sz="1100">
                <a:solidFill>
                  <a:srgbClr val="333333"/>
                </a:solidFill>
                <a:latin typeface="Albert Sans"/>
              </a:defRPr>
            </a:pPr>
            <a:r>
              <a:t>Op. Cash Flow</a:t>
            </a:r>
          </a:p>
          <a:p>
            <a:pPr algn="ctr">
              <a:defRPr sz="2400" b="1">
                <a:solidFill>
                  <a:srgbClr val="003366"/>
                </a:solidFill>
                <a:latin typeface="Albert Sans"/>
              </a:defRPr>
            </a:pPr>
            <a:r>
              <a:t>$111.5 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2766060"/>
            <a:ext cx="1805940" cy="1371600"/>
          </a:xfrm>
          <a:prstGeom prst="roundRect">
            <a:avLst/>
          </a:prstGeom>
          <a:solidFill>
            <a:srgbClr val="D8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00"/>
              </a:spcBef>
              <a:defRPr sz="1100">
                <a:solidFill>
                  <a:srgbClr val="333333"/>
                </a:solidFill>
                <a:latin typeface="Albert Sans"/>
              </a:defRPr>
            </a:pPr>
            <a:r>
              <a:t>Share Repurchase</a:t>
            </a:r>
          </a:p>
          <a:p>
            <a:pPr algn="ctr">
              <a:defRPr sz="2400" b="1">
                <a:solidFill>
                  <a:srgbClr val="003366"/>
                </a:solidFill>
                <a:latin typeface="Albert Sans"/>
              </a:defRPr>
            </a:pPr>
            <a:r>
              <a:t>$90.7 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52260" y="2766060"/>
            <a:ext cx="1805940" cy="1371600"/>
          </a:xfrm>
          <a:prstGeom prst="roundRect">
            <a:avLst/>
          </a:prstGeom>
          <a:solidFill>
            <a:srgbClr val="D8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00"/>
              </a:spcBef>
              <a:defRPr sz="1100">
                <a:solidFill>
                  <a:srgbClr val="333333"/>
                </a:solidFill>
                <a:latin typeface="Albert Sans"/>
              </a:defRPr>
            </a:pPr>
            <a:r>
              <a:t>Term Debt</a:t>
            </a:r>
          </a:p>
          <a:p>
            <a:pPr algn="ctr">
              <a:defRPr sz="2400" b="1">
                <a:solidFill>
                  <a:srgbClr val="003366"/>
                </a:solidFill>
                <a:latin typeface="Albert Sans"/>
              </a:defRPr>
            </a:pPr>
            <a:r>
              <a:t>$90.7 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4320540"/>
            <a:ext cx="1805940" cy="1371600"/>
          </a:xfrm>
          <a:prstGeom prst="roundRect">
            <a:avLst/>
          </a:prstGeom>
          <a:solidFill>
            <a:srgbClr val="D8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00"/>
              </a:spcBef>
              <a:defRPr sz="1100">
                <a:solidFill>
                  <a:srgbClr val="333333"/>
                </a:solidFill>
                <a:latin typeface="Albert Sans"/>
              </a:defRPr>
            </a:pPr>
            <a:r>
              <a:t>R&amp;D Exp</a:t>
            </a:r>
          </a:p>
          <a:p>
            <a:pPr algn="ctr">
              <a:defRPr sz="2400" b="1">
                <a:solidFill>
                  <a:srgbClr val="003366"/>
                </a:solidFill>
                <a:latin typeface="Albert Sans"/>
              </a:defRPr>
            </a:pPr>
            <a:r>
              <a:t>$34.6 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74620" y="4320540"/>
            <a:ext cx="1805940" cy="1371600"/>
          </a:xfrm>
          <a:prstGeom prst="roundRect">
            <a:avLst/>
          </a:prstGeom>
          <a:solidFill>
            <a:srgbClr val="D8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00"/>
              </a:spcBef>
              <a:defRPr sz="1100">
                <a:solidFill>
                  <a:srgbClr val="333333"/>
                </a:solidFill>
                <a:latin typeface="Albert Sans"/>
              </a:defRPr>
            </a:pPr>
            <a:r>
              <a:t>Cash &amp; Securities</a:t>
            </a:r>
          </a:p>
          <a:p>
            <a:pPr algn="ctr">
              <a:defRPr sz="2400" b="1">
                <a:solidFill>
                  <a:srgbClr val="003366"/>
                </a:solidFill>
                <a:latin typeface="Albert Sans"/>
              </a:defRPr>
            </a:pPr>
            <a:r>
              <a:t>$132.4 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