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source/7" TargetMode="External"/><Relationship Id="rId3" Type="http://schemas.openxmlformats.org/officeDocument/2006/relationships/hyperlink" Target="https://example.com/source/8" TargetMode="External"/><Relationship Id="rId4" Type="http://schemas.openxmlformats.org/officeDocument/2006/relationships/hyperlink" Target="https://example.com/source/9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909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0000"/>
                </a:solidFill>
                <a:latin typeface="Arial"/>
              </a:defRPr>
            </a:pPr>
            <a:r>
              <a:t>Vertical Integration Drives Structural Cost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241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47AB"/>
                </a:solidFill>
                <a:latin typeface="Arial"/>
              </a:defRPr>
            </a:pPr>
            <a:r>
              <a:t>Manufacturing-Led Sourcing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16736"/>
            <a:ext cx="3931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000000"/>
                </a:solidFill>
                <a:latin typeface="Arial"/>
              </a:rPr>
              <a:t>Sourcing Leverage: </a:t>
            </a:r>
            <a:r>
              <a:rPr sz="900">
                <a:solidFill>
                  <a:srgbClr val="000000"/>
                </a:solidFill>
                <a:latin typeface="Arial"/>
              </a:rPr>
              <a:t>Direct manufacturing scale and purchasing power.</a:t>
            </a:r>
            <a:r>
              <a:rPr sz="900">
                <a:solidFill>
                  <a:srgbClr val="000000"/>
                </a:solidFill>
                <a:latin typeface="Arial"/>
              </a:rPr>
              <a:t> </a:t>
            </a:r>
            <a:r>
              <a:rPr sz="900">
                <a:solidFill>
                  <a:srgbClr val="0066CC"/>
                </a:solidFill>
                <a:latin typeface="Arial"/>
                <a:hlinkClick r:id="rId2"/>
              </a:rPr>
              <a:t>[7]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00000"/>
                </a:solidFill>
                <a:latin typeface="Arial"/>
              </a:rPr>
              <a:t>Superior Economics: </a:t>
            </a:r>
            <a:r>
              <a:rPr sz="900">
                <a:solidFill>
                  <a:srgbClr val="000000"/>
                </a:solidFill>
                <a:latin typeface="Arial"/>
              </a:rPr>
              <a:t>Higher margins vs. rental-only peers.</a:t>
            </a:r>
            <a:r>
              <a:rPr sz="900">
                <a:solidFill>
                  <a:srgbClr val="000000"/>
                </a:solidFill>
                <a:latin typeface="Arial"/>
              </a:rPr>
              <a:t> </a:t>
            </a:r>
            <a:r>
              <a:rPr sz="900">
                <a:solidFill>
                  <a:srgbClr val="0066CC"/>
                </a:solidFill>
                <a:latin typeface="Arial"/>
                <a:hlinkClick r:id="rId3"/>
              </a:rPr>
              <a:t>[8]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2860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47AB"/>
                </a:solidFill>
                <a:latin typeface="Arial"/>
              </a:defRPr>
            </a:pPr>
            <a:r>
              <a:t>Product Innovation &amp; ESG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7860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000000"/>
                </a:solidFill>
                <a:latin typeface="Arial"/>
              </a:rPr>
              <a:t>Electric PTO Technology: </a:t>
            </a:r>
            <a:r>
              <a:rPr sz="900">
                <a:solidFill>
                  <a:srgbClr val="000000"/>
                </a:solidFill>
                <a:latin typeface="Arial"/>
              </a:rPr>
              <a:t>Differentiated low-emission offerings.</a:t>
            </a:r>
            <a:r>
              <a:rPr sz="900">
                <a:solidFill>
                  <a:srgbClr val="000000"/>
                </a:solidFill>
                <a:latin typeface="Arial"/>
              </a:rPr>
              <a:t> </a:t>
            </a:r>
            <a:r>
              <a:rPr sz="900">
                <a:solidFill>
                  <a:srgbClr val="0066CC"/>
                </a:solidFill>
                <a:latin typeface="Arial"/>
                <a:hlinkClick r:id="rId4"/>
              </a:rPr>
              <a:t>[9]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008" y="1024128"/>
            <a:ext cx="4096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47AB"/>
                </a:solidFill>
                <a:latin typeface="Arial"/>
              </a:defRPr>
            </a:pPr>
            <a:r>
              <a:t>CTOS Vertical Integration vs. Traditional Rental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36008" y="1353312"/>
          <a:ext cx="4096512" cy="1348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504"/>
                <a:gridCol w="1365504"/>
                <a:gridCol w="1365504"/>
              </a:tblGrid>
              <a:tr h="396239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Business Model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Sourcing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ROIC &amp; Margin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Manufacturing-led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High-teens ROIC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Traditional</a:t>
                      </a:r>
                    </a:p>
                  </a:txBody>
                  <a:tcPr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Third-party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Lower returns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6400800"/>
            <a:ext cx="813816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700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787878"/>
                </a:solidFill>
                <a:latin typeface="Arial"/>
              </a:defRPr>
            </a:pPr>
            <a:r>
              <a:t>Sources: 10-K • Mar 26 [7,8,9]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