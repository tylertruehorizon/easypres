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  <a:latin typeface="Albert Sans"/>
              </a:defRPr>
            </a:pPr>
            <a:r>
              <a:t>Risks &amp; Key Debates</a:t>
            </a:r>
          </a:p>
        </p:txBody>
      </p:sp>
      <p:sp>
        <p:nvSpPr>
          <p:cNvPr id="3" name="Oval 2"/>
          <p:cNvSpPr/>
          <p:nvPr/>
        </p:nvSpPr>
        <p:spPr>
          <a:xfrm>
            <a:off x="777240" y="1600200"/>
            <a:ext cx="731520" cy="731520"/>
          </a:xfrm>
          <a:prstGeom prst="ellipse">
            <a:avLst/>
          </a:prstGeom>
          <a:solidFill>
            <a:srgbClr val="CC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333333"/>
                </a:solidFill>
                <a:latin typeface="Albert Sans"/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514600"/>
            <a:ext cx="3749040" cy="3794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/>
          <a:lstStyle/>
          <a:p>
            <a:pPr algn="l">
              <a:spcAft>
                <a:spcPts val="800"/>
              </a:spcAft>
              <a:defRPr sz="2600" b="1">
                <a:solidFill>
                  <a:srgbClr val="333333"/>
                </a:solidFill>
                <a:latin typeface="Albert Sans"/>
              </a:defRPr>
            </a:pPr>
            <a:r>
              <a:t>Regulatory Risks</a:t>
            </a:r>
          </a:p>
          <a:p>
            <a:pPr algn="l" marL="228600" indent="-228600">
              <a:spcBef>
                <a:spcPts val="600"/>
              </a:spcBef>
              <a:defRPr sz="2000">
                <a:solidFill>
                  <a:srgbClr val="333333"/>
                </a:solidFill>
                <a:latin typeface="Albert Sans"/>
              </a:defRPr>
            </a:pPr>
            <a:r>
              <a:t>•  EU DMA and antitrust measures may compress Services take-rates</a:t>
            </a:r>
          </a:p>
          <a:p>
            <a:pPr algn="l" marL="228600" indent="-228600">
              <a:spcBef>
                <a:spcPts val="600"/>
              </a:spcBef>
              <a:defRPr sz="2000">
                <a:solidFill>
                  <a:srgbClr val="333333"/>
                </a:solidFill>
                <a:latin typeface="Albert Sans"/>
              </a:defRPr>
            </a:pPr>
            <a:r>
              <a:t>•  Greater China sales decline (-4%) raises concerns</a:t>
            </a:r>
          </a:p>
          <a:p>
            <a:pPr algn="l" marL="228600" indent="-228600">
              <a:spcBef>
                <a:spcPts val="600"/>
              </a:spcBef>
              <a:defRPr sz="2000">
                <a:solidFill>
                  <a:srgbClr val="333333"/>
                </a:solidFill>
                <a:latin typeface="Albert Sans"/>
              </a:defRPr>
            </a:pPr>
            <a:r>
              <a:t>•  AI integration brings safety challenges</a:t>
            </a:r>
          </a:p>
        </p:txBody>
      </p:sp>
      <p:sp>
        <p:nvSpPr>
          <p:cNvPr id="5" name="Oval 4"/>
          <p:cNvSpPr/>
          <p:nvPr/>
        </p:nvSpPr>
        <p:spPr>
          <a:xfrm>
            <a:off x="4800600" y="1600200"/>
            <a:ext cx="731520" cy="731520"/>
          </a:xfrm>
          <a:prstGeom prst="ellipse">
            <a:avLst/>
          </a:prstGeom>
          <a:solidFill>
            <a:srgbClr val="CC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333333"/>
                </a:solidFill>
                <a:latin typeface="Albert San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2514600"/>
            <a:ext cx="3749040" cy="3794760"/>
          </a:xfrm>
          <a:prstGeom prst="roundRect">
            <a:avLst>
              <a:gd name="adj" fmla="val 2000"/>
            </a:avLst>
          </a:prstGeom>
          <a:solidFill>
            <a:srgbClr val="D8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/>
          <a:lstStyle/>
          <a:p>
            <a:pPr algn="l">
              <a:spcAft>
                <a:spcPts val="800"/>
              </a:spcAft>
              <a:defRPr sz="2600" b="1">
                <a:solidFill>
                  <a:srgbClr val="333333"/>
                </a:solidFill>
                <a:latin typeface="Albert Sans"/>
              </a:defRPr>
            </a:pPr>
            <a:r>
              <a:t>Financial Risks</a:t>
            </a:r>
          </a:p>
          <a:p>
            <a:pPr algn="l" marL="228600" indent="-228600">
              <a:spcBef>
                <a:spcPts val="600"/>
              </a:spcBef>
              <a:defRPr sz="2000">
                <a:solidFill>
                  <a:srgbClr val="333333"/>
                </a:solidFill>
                <a:latin typeface="Albert Sans"/>
              </a:defRPr>
            </a:pPr>
            <a:r>
              <a:t>•  New tariffs may erode Product GM (36.8%)</a:t>
            </a:r>
          </a:p>
          <a:p>
            <a:pPr algn="l" marL="228600" indent="-228600">
              <a:spcBef>
                <a:spcPts val="600"/>
              </a:spcBef>
              <a:defRPr sz="2000">
                <a:solidFill>
                  <a:srgbClr val="333333"/>
                </a:solidFill>
                <a:latin typeface="Albert Sans"/>
              </a:defRPr>
            </a:pPr>
            <a:r>
              <a:t>•  High share-repurchase program increases reliance on free cash flow</a:t>
            </a:r>
          </a:p>
          <a:p>
            <a:pPr algn="l" marL="228600" indent="-228600">
              <a:spcBef>
                <a:spcPts val="600"/>
              </a:spcBef>
              <a:defRPr sz="2000">
                <a:solidFill>
                  <a:srgbClr val="333333"/>
                </a:solidFill>
                <a:latin typeface="Albert Sans"/>
              </a:defRPr>
            </a:pPr>
            <a:r>
              <a:t>•  Currency headwinds from strong USD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