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dPt>
            <c:idx val="0"/>
            <c:spPr>
              <a:solidFill>
                <a:srgbClr val="19B6F0"/>
              </a:solidFill>
            </c:spPr>
          </c:dPt>
          <c:dPt>
            <c:idx val="1"/>
            <c:spPr>
              <a:solidFill>
                <a:srgbClr val="3FC2F3"/>
              </a:solidFill>
            </c:spPr>
          </c:dPt>
          <c:dPt>
            <c:idx val="2"/>
            <c:spPr>
              <a:solidFill>
                <a:srgbClr val="65CEF5"/>
              </a:solidFill>
            </c:spPr>
          </c:dPt>
          <c:dPt>
            <c:idx val="3"/>
            <c:spPr>
              <a:solidFill>
                <a:srgbClr val="8CDAF7"/>
              </a:solidFill>
            </c:spPr>
          </c:dPt>
          <c:dPt>
            <c:idx val="4"/>
            <c:spPr>
              <a:solidFill>
                <a:srgbClr val="B2E6FA"/>
              </a:solidFill>
            </c:spPr>
          </c:dPt>
          <c:cat>
            <c:strRef>
              <c:f>Sheet1!$A$2:$A$6</c:f>
              <c:strCache>
                <c:ptCount val="5"/>
                <c:pt idx="0">
                  <c:v>iPhone</c:v>
                </c:pt>
                <c:pt idx="1">
                  <c:v>Services</c:v>
                </c:pt>
                <c:pt idx="2">
                  <c:v>Mac</c:v>
                </c:pt>
                <c:pt idx="3">
                  <c:v>Wearables</c:v>
                </c:pt>
                <c:pt idx="4">
                  <c:v>iPad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209586</c:v>
                </c:pt>
                <c:pt idx="1">
                  <c:v>109158</c:v>
                </c:pt>
                <c:pt idx="2">
                  <c:v>33708</c:v>
                </c:pt>
                <c:pt idx="3">
                  <c:v>35686</c:v>
                </c:pt>
                <c:pt idx="4">
                  <c:v>28023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>
                  <a:solidFill>
                    <a:srgbClr val="333333"/>
                  </a:solidFill>
                  <a:latin typeface="Albert Sans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333333"/>
                </a:solidFill>
                <a:latin typeface="Albert San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F2F2F2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333333"/>
                </a:solidFill>
                <a:latin typeface="Albert San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3366"/>
                </a:solidFill>
                <a:latin typeface="Albert Sans"/>
              </a:defRPr>
            </a:pPr>
            <a:r>
              <a:t>FY2025 Mix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85800" y="1051560"/>
          <a:ext cx="7772400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