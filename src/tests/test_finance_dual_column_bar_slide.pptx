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1959B3"/>
              </a:solidFill>
            </c:spPr>
          </c:dPt>
          <c:dPt>
            <c:idx val="1"/>
            <c:spPr>
              <a:solidFill>
                <a:srgbClr val="B2C7E5"/>
              </a:solidFill>
            </c:spPr>
          </c:dPt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40.0</c:v>
                </c:pt>
                <c:pt idx="1">
                  <c:v>106.0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source/14" TargetMode="External"/><Relationship Id="rId3" Type="http://schemas.openxmlformats.org/officeDocument/2006/relationships/hyperlink" Target="https://example.com/source/15" TargetMode="External"/><Relationship Id="rId4" Type="http://schemas.openxmlformats.org/officeDocument/2006/relationships/hyperlink" Target="https://example.com/source/16" TargetMode="External"/><Relationship Id="rId5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909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0000"/>
                </a:solidFill>
                <a:latin typeface="Arial"/>
              </a:defRPr>
            </a:pPr>
            <a:r>
              <a:t>Secular Tailwinds: Grid Modernization &amp; Data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Grid Modernization &amp; AI Catalysts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9547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000000"/>
                </a:solidFill>
                <a:latin typeface="Arial"/>
              </a:rPr>
              <a:t>Aging Infrastructure: </a:t>
            </a:r>
            <a:r>
              <a:rPr sz="900">
                <a:solidFill>
                  <a:srgbClr val="000000"/>
                </a:solidFill>
                <a:latin typeface="Arial"/>
              </a:rPr>
              <a:t>Transmission replacement cycle accelerating.</a:t>
            </a:r>
            <a:r>
              <a:rPr sz="900">
                <a:solidFill>
                  <a:srgbClr val="000000"/>
                </a:solidFill>
                <a:latin typeface="Arial"/>
              </a:rPr>
              <a:t> </a:t>
            </a:r>
            <a:r>
              <a:rPr sz="900">
                <a:solidFill>
                  <a:srgbClr val="0066CC"/>
                </a:solidFill>
                <a:latin typeface="Arial"/>
                <a:hlinkClick r:id="rId2"/>
              </a:rPr>
              <a:t>[14]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0000"/>
                </a:solidFill>
                <a:latin typeface="Arial"/>
              </a:rPr>
              <a:t>AI Power Demand: </a:t>
            </a:r>
            <a:r>
              <a:rPr sz="900">
                <a:solidFill>
                  <a:srgbClr val="000000"/>
                </a:solidFill>
                <a:latin typeface="Arial"/>
              </a:rPr>
              <a:t>Data center load growth well above trend.</a:t>
            </a:r>
            <a:r>
              <a:rPr sz="900">
                <a:solidFill>
                  <a:srgbClr val="000000"/>
                </a:solidFill>
                <a:latin typeface="Arial"/>
              </a:rPr>
              <a:t> </a:t>
            </a:r>
            <a:r>
              <a:rPr sz="900">
                <a:solidFill>
                  <a:srgbClr val="0066CC"/>
                </a:solidFill>
                <a:latin typeface="Arial"/>
                <a:hlinkClick r:id="rId3"/>
              </a:rPr>
              <a:t>[15]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2020" y="1005840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Market Opportunity &amp; Structural Shifts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2020" y="1280160"/>
            <a:ext cx="39547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000000"/>
                </a:solidFill>
                <a:latin typeface="Arial"/>
              </a:rPr>
              <a:t>Total Addressable Market: </a:t>
            </a:r>
            <a:r>
              <a:rPr sz="900">
                <a:solidFill>
                  <a:srgbClr val="000000"/>
                </a:solidFill>
                <a:latin typeface="Arial"/>
              </a:rPr>
              <a:t>Large specialty rental TAM with runway.</a:t>
            </a:r>
            <a:r>
              <a:rPr sz="900">
                <a:solidFill>
                  <a:srgbClr val="000000"/>
                </a:solidFill>
                <a:latin typeface="Arial"/>
              </a:rPr>
              <a:t> </a:t>
            </a:r>
            <a:r>
              <a:rPr sz="900">
                <a:solidFill>
                  <a:srgbClr val="0066CC"/>
                </a:solidFill>
                <a:latin typeface="Arial"/>
                <a:hlinkClick r:id="rId4"/>
              </a:rPr>
              <a:t>[16]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1868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0000"/>
                </a:solidFill>
                <a:latin typeface="Arial"/>
              </a:defRPr>
            </a:pPr>
            <a:r>
              <a:t>U.S. Data Center Electricity Demand (GW)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3474720"/>
          <a:ext cx="8229600" cy="2697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6400800"/>
            <a:ext cx="813816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700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787878"/>
                </a:solidFill>
                <a:latin typeface="Arial"/>
              </a:defRPr>
            </a:pPr>
            <a:r>
              <a:t>Sources: 10-K • Mar 24 [14,15,16]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