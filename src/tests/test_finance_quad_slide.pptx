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</c:v>
                </c:pt>
              </c:strCache>
            </c:strRef>
          </c:tx>
          <c:spPr>
            <a:ln w="25400">
              <a:solidFill>
                <a:srgbClr val="002047"/>
              </a:solidFill>
            </a:ln>
          </c:spPr>
          <c:cat>
            <c:strRef>
              <c:f>Sheet1!$A$2:$A$4</c:f>
              <c:strCache>
                <c:ptCount val="3"/>
                <c:pt idx="0">
                  <c:v>Q4 2024</c:v>
                </c:pt>
                <c:pt idx="1">
                  <c:v>FY 2025 Avg</c:v>
                </c:pt>
                <c:pt idx="2">
                  <c:v>Q4 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78.9</c:v>
                </c:pt>
                <c:pt idx="1">
                  <c:v>79.4</c:v>
                </c:pt>
                <c:pt idx="2">
                  <c:v>83.6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source/20" TargetMode="External"/><Relationship Id="rId3" Type="http://schemas.openxmlformats.org/officeDocument/2006/relationships/chart" Target="../charts/chart1.xml"/><Relationship Id="rId4" Type="http://schemas.openxmlformats.org/officeDocument/2006/relationships/hyperlink" Target="https://example.com/source/2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046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900">
                <a:solidFill>
                  <a:srgbClr val="000000"/>
                </a:solidFill>
                <a:latin typeface="Arial"/>
              </a:defRPr>
            </a:pPr>
            <a:r>
              <a:t>Operational Pivot Drives Cash Flow and Deleveraging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47AB"/>
                </a:solidFill>
                <a:latin typeface="Arial"/>
              </a:defRPr>
            </a:pPr>
            <a:r>
              <a:t>Cash Flow &amp; Working Capital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4069080" cy="229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Record Cash Generation: </a:t>
            </a:r>
            <a:r>
              <a:rPr sz="800">
                <a:solidFill>
                  <a:srgbClr val="000000"/>
                </a:solidFill>
                <a:latin typeface="Arial"/>
              </a:rPr>
              <a:t>Conversion and working capital discipline improved.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2"/>
              </a:rPr>
              <a:t>[20]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987552"/>
            <a:ext cx="4069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900">
                <a:solidFill>
                  <a:srgbClr val="000000"/>
                </a:solidFill>
                <a:latin typeface="Arial"/>
              </a:defRPr>
            </a:pPr>
            <a:r>
              <a:t>Quarterly Fleet Utilization Trend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663440" y="1225296"/>
          <a:ext cx="4069080" cy="23088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76275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47AB"/>
                </a:solidFill>
                <a:latin typeface="Arial"/>
              </a:defRPr>
            </a:pPr>
            <a:r>
              <a:t>Deleveraging &amp; Capital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018788"/>
            <a:ext cx="4069080" cy="233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Net Leverage: </a:t>
            </a:r>
            <a:r>
              <a:rPr sz="800">
                <a:solidFill>
                  <a:srgbClr val="000000"/>
                </a:solidFill>
                <a:latin typeface="Arial"/>
              </a:rPr>
              <a:t>Path to target range on improved EBITDA.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4"/>
              </a:rPr>
              <a:t>[21]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762756"/>
            <a:ext cx="4069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47AB"/>
                </a:solidFill>
                <a:latin typeface="Arial"/>
              </a:defRPr>
            </a:pPr>
            <a:r>
              <a:t>Financial Highlights: FY24 vs FY25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63440" y="4018788"/>
          <a:ext cx="4069080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70"/>
                <a:gridCol w="1017270"/>
                <a:gridCol w="1017270"/>
                <a:gridCol w="1017270"/>
              </a:tblGrid>
              <a:tr h="3606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 2024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 2025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$1.1B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Adj. EBITDA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$200M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$220M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6400800"/>
            <a:ext cx="813816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7700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787878"/>
                </a:solidFill>
                <a:latin typeface="Arial"/>
              </a:defRPr>
            </a:pPr>
            <a:r>
              <a:t>Sources: INTRM • 10 Mar 26 [20,21]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