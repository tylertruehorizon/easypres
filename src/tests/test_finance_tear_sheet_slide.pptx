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Vals</c:v>
                </c:pt>
              </c:strCache>
            </c:strRef>
          </c:tx>
          <c:dPt>
            <c:idx val="0"/>
            <c:spPr>
              <a:solidFill>
                <a:srgbClr val="193659"/>
              </a:solidFill>
            </c:spPr>
          </c:dPt>
          <c:dPt>
            <c:idx val="1"/>
            <c:spPr>
              <a:solidFill>
                <a:srgbClr val="324C6B"/>
              </a:solidFill>
            </c:spPr>
          </c:dPt>
          <c:dPt>
            <c:idx val="2"/>
            <c:spPr>
              <a:solidFill>
                <a:srgbClr val="4C627E"/>
              </a:solidFill>
            </c:spPr>
          </c:dPt>
          <c:dPt>
            <c:idx val="3"/>
            <c:spPr>
              <a:solidFill>
                <a:srgbClr val="657990"/>
              </a:solidFill>
            </c:spPr>
          </c:dPt>
          <c:dPt>
            <c:idx val="4"/>
            <c:spPr>
              <a:solidFill>
                <a:srgbClr val="7F8FA3"/>
              </a:solidFill>
            </c:spPr>
          </c:dPt>
          <c:dPt>
            <c:idx val="5"/>
            <c:spPr>
              <a:solidFill>
                <a:srgbClr val="98A5B5"/>
              </a:solidFill>
            </c:spPr>
          </c:dPt>
          <c:dPt>
            <c:idx val="6"/>
            <c:spPr>
              <a:solidFill>
                <a:srgbClr val="B2BCC7"/>
              </a:solidFill>
            </c:spPr>
          </c:dPt>
          <c:cat>
            <c:strRef>
              <c:f>Sheet1!$A$2:$A$8</c:f>
              <c:strCache>
                <c:ptCount val="7"/>
                <c:pt idx="0">
                  <c:v>GS target</c:v>
                </c:pt>
                <c:pt idx="1">
                  <c:v>DB target</c:v>
                </c:pt>
                <c:pt idx="2">
                  <c:v>MS target</c:v>
                </c:pt>
                <c:pt idx="3">
                  <c:v>Consensus</c:v>
                </c:pt>
                <c:pt idx="4">
                  <c:v>Current price</c:v>
                </c:pt>
                <c:pt idx="5">
                  <c:v>Barclays target</c:v>
                </c:pt>
                <c:pt idx="6">
                  <c:v>52-wk low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238</c:v>
                </c:pt>
                <c:pt idx="1">
                  <c:v>245</c:v>
                </c:pt>
                <c:pt idx="2">
                  <c:v>255</c:v>
                </c:pt>
                <c:pt idx="3">
                  <c:v>232</c:v>
                </c:pt>
                <c:pt idx="4">
                  <c:v>198</c:v>
                </c:pt>
                <c:pt idx="5">
                  <c:v>210</c:v>
                </c:pt>
                <c:pt idx="6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solidFill>
                    <a:srgbClr val="F2F2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10k-mar-26" TargetMode="External"/><Relationship Id="rId3" Type="http://schemas.openxmlformats.org/officeDocument/2006/relationships/hyperlink" Target="https://example.com/bloomberg-grid-survey" TargetMode="External"/><Relationship Id="rId4" Type="http://schemas.openxmlformats.org/officeDocument/2006/relationships/hyperlink" Target="https://example.com/ms-equity-note" TargetMode="External"/><Relationship Id="rId5" Type="http://schemas.openxmlformats.org/officeDocument/2006/relationships/hyperlink" Target="https://example.com/deutsche-bank-initiation" TargetMode="External"/><Relationship Id="rId6" Type="http://schemas.openxmlformats.org/officeDocument/2006/relationships/hyperlink" Target="https://example.com/oppenheimer-upgrade" TargetMode="External"/><Relationship Id="rId7" Type="http://schemas.openxmlformats.org/officeDocument/2006/relationships/hyperlink" Target="https://example.com/barclays-comp-analysis" TargetMode="External"/><Relationship Id="rId8" Type="http://schemas.openxmlformats.org/officeDocument/2006/relationships/hyperlink" Target="https://example.com/company-ir-day" TargetMode="External"/><Relationship Id="rId9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092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00000"/>
                </a:solidFill>
                <a:latin typeface="Arial"/>
              </a:defRPr>
            </a:pPr>
            <a:r>
              <a:t>AAPL: Valuation, Catalysts &amp; Downside Risks — Comprehensive Tear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926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47AB"/>
                </a:solidFill>
                <a:latin typeface="Arial"/>
              </a:defRPr>
            </a:pPr>
            <a:r>
              <a:t>Bull Case: Structural Tailwinds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07008"/>
            <a:ext cx="38404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Grid Modernization Supercycle: </a:t>
            </a:r>
            <a:r>
              <a:rPr sz="800">
                <a:solidFill>
                  <a:srgbClr val="000000"/>
                </a:solidFill>
                <a:latin typeface="Arial"/>
              </a:rPr>
              <a:t>Decade-long transmission replacement cycle accelerating; AAPL uniquely positioned with vertically integrated power management silicon.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2"/>
              </a:rPr>
              <a:t>[1]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3"/>
              </a:rPr>
              <a:t>[6]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AI &amp; Data Center Demand: </a:t>
            </a:r>
            <a:r>
              <a:rPr sz="800">
                <a:solidFill>
                  <a:srgbClr val="000000"/>
                </a:solidFill>
                <a:latin typeface="Arial"/>
              </a:rPr>
              <a:t>Hyperscaler capex growing 30%+ YoY; on-device inference drives upgrade urgency across installed base of 2.2B active devices.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4"/>
              </a:rPr>
              <a:t>[4]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Services Flywheel: </a:t>
            </a:r>
            <a:r>
              <a:rPr sz="800">
                <a:solidFill>
                  <a:srgbClr val="000000"/>
                </a:solidFill>
                <a:latin typeface="Arial"/>
              </a:rPr>
              <a:t>High-margin services (~74% gross margin) growing 15%+ and compounding; App Store, iCloud, and Apple Intelligence subscriptions driving durable ARPU expansion.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2"/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2082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47AB"/>
                </a:solidFill>
                <a:latin typeface="Arial"/>
              </a:defRPr>
            </a:pPr>
            <a:r>
              <a:t>Bear Case: Key Risks to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58568"/>
            <a:ext cx="38404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China Revenue Concentration: </a:t>
            </a:r>
            <a:r>
              <a:rPr sz="800">
                <a:solidFill>
                  <a:srgbClr val="000000"/>
                </a:solidFill>
                <a:latin typeface="Arial"/>
              </a:rPr>
              <a:t>~19% of revenue exposed to geopolitical risk; Huawei share recovery and regulatory friction remain overhangs.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5"/>
              </a:rPr>
              <a:t>[2]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Valuation Premium Compression: </a:t>
            </a:r>
            <a:r>
              <a:rPr sz="800">
                <a:solidFill>
                  <a:srgbClr val="000000"/>
                </a:solidFill>
                <a:latin typeface="Arial"/>
              </a:rPr>
              <a:t>Trading at 28x forward P/E vs. Mag-7 median of 24x; multiple at risk if AI monetization timeline slips beyond FY26.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6"/>
              </a:rPr>
              <a:t>[3]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7"/>
              </a:rPr>
              <a:t>[5]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Regulatory Headwinds: </a:t>
            </a:r>
            <a:r>
              <a:rPr sz="800">
                <a:solidFill>
                  <a:srgbClr val="000000"/>
                </a:solidFill>
                <a:latin typeface="Arial"/>
              </a:rPr>
              <a:t>DOJ antitrust action on App Store economics and EU DMA compliance could reduce Services segment take-rate by 2–4pp.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5"/>
              </a:rPr>
              <a:t>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7238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47AB"/>
                </a:solidFill>
                <a:latin typeface="Arial"/>
              </a:defRPr>
            </a:pPr>
            <a:r>
              <a:t>Near-Term Catalysts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310128"/>
            <a:ext cx="384048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iPhone 17 Launch (Sep 26): </a:t>
            </a:r>
            <a:r>
              <a:rPr sz="800">
                <a:solidFill>
                  <a:srgbClr val="000000"/>
                </a:solidFill>
                <a:latin typeface="Arial"/>
              </a:rPr>
              <a:t>Foldable form factor and Apple Intelligence Pro tier expected to drive largest upgrade cycle since iPhone 12.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8"/>
              </a:rPr>
              <a:t>[8]</a:t>
            </a:r>
          </a:p>
          <a:p>
            <a:pPr>
              <a:spcAft>
                <a:spcPts val="200"/>
              </a:spcAft>
            </a:pPr>
            <a:r>
              <a:rPr b="1" sz="800">
                <a:solidFill>
                  <a:srgbClr val="000000"/>
                </a:solidFill>
                <a:latin typeface="Arial"/>
              </a:rPr>
              <a:t>Capital Return Program: </a:t>
            </a:r>
            <a:r>
              <a:rPr sz="800">
                <a:solidFill>
                  <a:srgbClr val="000000"/>
                </a:solidFill>
                <a:latin typeface="Arial"/>
              </a:rPr>
              <a:t>$110B buyback authorization; dividend yield at 0.5% with potential for special dividend if net cash exceeds $100B.</a:t>
            </a:r>
            <a:r>
              <a:rPr sz="800">
                <a:solidFill>
                  <a:srgbClr val="000000"/>
                </a:solidFill>
                <a:latin typeface="Arial"/>
              </a:rPr>
              <a:t> </a:t>
            </a:r>
            <a:r>
              <a:rPr sz="800">
                <a:solidFill>
                  <a:srgbClr val="0066CC"/>
                </a:solidFill>
                <a:latin typeface="Arial"/>
                <a:hlinkClick r:id="rId2"/>
              </a:rPr>
              <a:t>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2277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47AB"/>
                </a:solidFill>
                <a:latin typeface="Arial"/>
              </a:defRPr>
            </a:pPr>
            <a:r>
              <a:t>Street Price Target Summary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11480" y="4160520"/>
          <a:ext cx="3840480" cy="175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"/>
                <a:gridCol w="768096"/>
                <a:gridCol w="768096"/>
                <a:gridCol w="768096"/>
                <a:gridCol w="768096"/>
              </a:tblGrid>
              <a:tr h="307340">
                <a:tc>
                  <a:txBody>
                    <a:bodyPr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Firm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7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204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Deutsche Bank</a:t>
                      </a:r>
                    </a:p>
                  </a:txBody>
                  <a:tcPr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DCF + Comps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29x FY26E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Oppenheimer</a:t>
                      </a:r>
                    </a:p>
                  </a:txBody>
                  <a:tcPr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Outperform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EV/EBITDA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18x FY26E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Morgan Stanley</a:t>
                      </a:r>
                    </a:p>
                  </a:txBody>
                  <a:tcPr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Overweight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SOTP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Barclays</a:t>
                      </a:r>
                    </a:p>
                  </a:txBody>
                  <a:tcPr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Equal Weight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P/E Comps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26x FY26E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Goldman Sachs</a:t>
                      </a:r>
                    </a:p>
                  </a:txBody>
                  <a:tcPr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DCF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28x FY26E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754880" y="96926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000000"/>
                </a:solidFill>
                <a:latin typeface="Arial"/>
              </a:defRPr>
            </a:pPr>
            <a:r>
              <a:t>12M Price Target vs. Current &amp; Peers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074920" y="1444752"/>
          <a:ext cx="3794760" cy="4690872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14" name="Rectangle 13"/>
          <p:cNvSpPr/>
          <p:nvPr/>
        </p:nvSpPr>
        <p:spPr>
          <a:xfrm>
            <a:off x="502920" y="6272784"/>
            <a:ext cx="8138160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4898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787878"/>
                </a:solidFill>
                <a:latin typeface="Arial"/>
              </a:defRPr>
            </a:pPr>
            <a:r>
              <a:t>Sources: 10-K Mar 26 [1]; Deutsche Bank [2]; Oppenheimer [3]; Morgan Stanley [4]; Barclays [5]; Bloomberg Grid Survey [6]; EIA Power Outlook [7]; AAPL IR Day [8]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
            <a:srgbClr val="002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