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365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3366"/>
                </a:solidFill>
                <a:latin typeface="Albert Sans"/>
              </a:defRPr>
            </a:pPr>
            <a:r>
              <a:t>Top Risks &amp; Signals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43400" y="365760"/>
            <a:ext cx="4114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>
                <a:solidFill>
                  <a:srgbClr val="333333"/>
                </a:solidFill>
                <a:latin typeface="Albert Sans"/>
              </a:defRPr>
            </a:pPr>
            <a:r>
              <a:t>Condensed from FY2024 10-K Item 1A risk factors; indicators to monitor in 2025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1625600"/>
          <a:ext cx="7772400" cy="45211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3100"/>
                <a:gridCol w="1943100"/>
                <a:gridCol w="1943100"/>
                <a:gridCol w="1943100"/>
              </a:tblGrid>
              <a:tr h="36068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Risk</a:t>
                      </a:r>
                    </a:p>
                  </a:txBody>
                  <a:tcPr anchor="ctr">
                    <a:solidFill>
                      <a:srgbClr val="A5E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Impact</a:t>
                      </a:r>
                    </a:p>
                  </a:txBody>
                  <a:tcPr anchor="ctr">
                    <a:solidFill>
                      <a:srgbClr val="A5E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Horizon</a:t>
                      </a:r>
                    </a:p>
                  </a:txBody>
                  <a:tcPr anchor="ctr">
                    <a:solidFill>
                      <a:srgbClr val="A5E2F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Leading indicators</a:t>
                      </a:r>
                    </a:p>
                  </a:txBody>
                  <a:tcPr anchor="ctr">
                    <a:solidFill>
                      <a:srgbClr val="A5E2F9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BTC drawdown → liquidity stress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0–24 mo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BTC price; MSTR premium/NAV; convert/ATM terms; credit spreads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Premium compression vs spot BTC ETPs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0–36 mo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ETP AUM growth; MSTR premium; borrow rates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Financing shut → fixed-charge strain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0–24 mo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Equity volatility; convert market conditions; preferred dividend settlement mix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Fair-value + CAMT cash-tax risk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Med–High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12–48 mo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BTC unrealized gains; CAMT guidance; projected AFSI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Custody/cyber tail risk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High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0–60 mo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Custodian incidents; SOC reports; regulatory actions vs custodians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Dual-class governance concentration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Structural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Insider actions; governance ratings; shareholder proposals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  <a:tr h="662939"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Software transition/erosion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Medium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12–60 mo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333333"/>
                          </a:solidFill>
                          <a:latin typeface="Albert Sans"/>
                        </a:defRPr>
                      </a:pPr>
                      <a:r>
                        <a:t>Renewals/deferred revenue; subscription growth; cloud gross margin</a:t>
                      </a:r>
                    </a:p>
                  </a:txBody>
                  <a:tcPr anchor="ctr">
                    <a:solidFill>
                      <a:srgbClr val="E5F6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