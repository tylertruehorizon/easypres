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400300"/>
            <a:ext cx="4114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3200" b="1">
                <a:solidFill>
                  <a:srgbClr val="003366"/>
                </a:solidFill>
                <a:latin typeface="Albert Sans"/>
              </a:defRPr>
            </a:pPr>
            <a:r>
              <a:t>Strategy &amp; Growth Initiatives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360420"/>
            <a:ext cx="41148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>
                <a:solidFill>
                  <a:srgbClr val="333333"/>
                </a:solidFill>
                <a:latin typeface="Albert Sans"/>
              </a:defRPr>
            </a:pPr>
            <a:r>
              <a:t>Focus on driving growth through premium hardware innovation, service expansion, and heavy R&amp;D investment in AI. Bolstering supply chain resilience while expanding into key global markets.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0" y="1755648"/>
            <a:ext cx="3383280" cy="635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03520" y="2871216"/>
            <a:ext cx="3383280" cy="635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3986784"/>
            <a:ext cx="3383280" cy="635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03520" y="5102352"/>
            <a:ext cx="3383280" cy="635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0" y="640080"/>
            <a:ext cx="3383280" cy="1115568"/>
          </a:xfrm>
          <a:prstGeom prst="rect">
            <a:avLst/>
          </a:prstGeom>
          <a:noFill/>
        </p:spPr>
        <p:txBody>
          <a:bodyPr wrap="square" anchor="ctr" tIns="73152" bIns="73152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Albert Sans"/>
              </a:defRPr>
            </a:pPr>
            <a:r>
              <a:t>Premium Hardware Cadence</a:t>
            </a:r>
          </a:p>
          <a:p>
            <a:pPr algn="l">
              <a:spcBef>
                <a:spcPts val="400"/>
              </a:spcBef>
              <a:defRPr sz="1100">
                <a:solidFill>
                  <a:srgbClr val="8E8E8E"/>
                </a:solidFill>
                <a:latin typeface="Albert Sans"/>
              </a:defRPr>
            </a:pPr>
            <a:r>
              <a:t>New launches for iPhone Pro, Mac, iPad, and Vision Pro to sustain market leadership.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755648"/>
            <a:ext cx="3383280" cy="1115568"/>
          </a:xfrm>
          <a:prstGeom prst="rect">
            <a:avLst/>
          </a:prstGeom>
          <a:noFill/>
        </p:spPr>
        <p:txBody>
          <a:bodyPr wrap="square" anchor="ctr" tIns="73152" bIns="73152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Albert Sans"/>
              </a:defRPr>
            </a:pPr>
            <a:r>
              <a:t>Services Expansion</a:t>
            </a:r>
          </a:p>
          <a:p>
            <a:pPr algn="l">
              <a:spcBef>
                <a:spcPts val="400"/>
              </a:spcBef>
              <a:defRPr sz="1100">
                <a:solidFill>
                  <a:srgbClr val="8E8E8E"/>
                </a:solidFill>
                <a:latin typeface="Albert Sans"/>
              </a:defRPr>
            </a:pPr>
            <a:r>
              <a:t>Growth in advertising, App Store, cloud, Apple Pay, and AppleCare revenue streams.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871216"/>
            <a:ext cx="3383280" cy="1115568"/>
          </a:xfrm>
          <a:prstGeom prst="rect">
            <a:avLst/>
          </a:prstGeom>
          <a:noFill/>
        </p:spPr>
        <p:txBody>
          <a:bodyPr wrap="square" anchor="ctr" tIns="73152" bIns="73152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Albert Sans"/>
              </a:defRPr>
            </a:pPr>
            <a:r>
              <a:t>R&amp;D Investment</a:t>
            </a:r>
          </a:p>
          <a:p>
            <a:pPr algn="l">
              <a:spcBef>
                <a:spcPts val="400"/>
              </a:spcBef>
              <a:defRPr sz="1100">
                <a:solidFill>
                  <a:srgbClr val="8E8E8E"/>
                </a:solidFill>
                <a:latin typeface="Albert Sans"/>
              </a:defRPr>
            </a:pPr>
            <a:r>
              <a:t>10% YoY increase ($34.6B) targeting AI, on-device intelligence, and spatial computing.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3986784"/>
            <a:ext cx="3383280" cy="1115568"/>
          </a:xfrm>
          <a:prstGeom prst="rect">
            <a:avLst/>
          </a:prstGeom>
          <a:noFill/>
        </p:spPr>
        <p:txBody>
          <a:bodyPr wrap="square" anchor="ctr" tIns="73152" bIns="73152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Albert Sans"/>
              </a:defRPr>
            </a:pPr>
            <a:r>
              <a:t>Supply Chain Resilience</a:t>
            </a:r>
          </a:p>
          <a:p>
            <a:pPr algn="l">
              <a:spcBef>
                <a:spcPts val="400"/>
              </a:spcBef>
              <a:defRPr sz="1100">
                <a:solidFill>
                  <a:srgbClr val="8E8E8E"/>
                </a:solidFill>
                <a:latin typeface="Albert Sans"/>
              </a:defRPr>
            </a:pPr>
            <a:r>
              <a:t>Navigating tariffs and geopolitical risks to ensure stability in production and distribution.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5102352"/>
            <a:ext cx="3383280" cy="1115568"/>
          </a:xfrm>
          <a:prstGeom prst="rect">
            <a:avLst/>
          </a:prstGeom>
          <a:noFill/>
        </p:spPr>
        <p:txBody>
          <a:bodyPr wrap="square" anchor="ctr" tIns="73152" bIns="73152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Albert Sans"/>
              </a:defRPr>
            </a:pPr>
            <a:r>
              <a:t>Geographic Expansion</a:t>
            </a:r>
          </a:p>
          <a:p>
            <a:pPr algn="l">
              <a:spcBef>
                <a:spcPts val="400"/>
              </a:spcBef>
              <a:defRPr sz="1100">
                <a:solidFill>
                  <a:srgbClr val="8E8E8E"/>
                </a:solidFill>
                <a:latin typeface="Albert Sans"/>
              </a:defRPr>
            </a:pPr>
            <a:r>
              <a:t>Focusing on Europe and Japan while addressing demand fluctuations in China.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